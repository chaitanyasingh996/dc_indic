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59" r:id="rId4"/>
    <p:sldId id="258" r:id="rId5"/>
    <p:sldId id="260"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4660"/>
  </p:normalViewPr>
  <p:slideViewPr>
    <p:cSldViewPr snapToGrid="0">
      <p:cViewPr varScale="1">
        <p:scale>
          <a:sx n="94" d="100"/>
          <a:sy n="94" d="100"/>
        </p:scale>
        <p:origin x="8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4F7692-E01D-4E26-89DF-2519D6AB7D71}" type="datetimeFigureOut">
              <a:rPr lang="en-IN" smtClean="0"/>
              <a:t>17-11-2025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D14B60D0-EA34-4C5E-99D0-06E56C34E887}"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6393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F7692-E01D-4E26-89DF-2519D6AB7D71}"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B60D0-EA34-4C5E-99D0-06E56C34E887}"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0530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F7692-E01D-4E26-89DF-2519D6AB7D71}"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B60D0-EA34-4C5E-99D0-06E56C34E887}"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85106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4F7692-E01D-4E26-89DF-2519D6AB7D71}"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B60D0-EA34-4C5E-99D0-06E56C34E887}"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13791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4F7692-E01D-4E26-89DF-2519D6AB7D71}" type="datetimeFigureOut">
              <a:rPr lang="en-IN" smtClean="0"/>
              <a:t>17-11-2025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4B60D0-EA34-4C5E-99D0-06E56C34E887}"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5330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4F7692-E01D-4E26-89DF-2519D6AB7D71}" type="datetimeFigureOut">
              <a:rPr lang="en-IN" smtClean="0"/>
              <a:t>17-11-2025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4B60D0-EA34-4C5E-99D0-06E56C34E887}"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2288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4F7692-E01D-4E26-89DF-2519D6AB7D71}" type="datetimeFigureOut">
              <a:rPr lang="en-IN" smtClean="0"/>
              <a:t>17-11-2025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4B60D0-EA34-4C5E-99D0-06E56C34E887}" type="slidenum">
              <a:rPr lang="en-IN" smtClean="0"/>
              <a:t>‹#›</a:t>
            </a:fld>
            <a:endParaRPr lang="en-IN"/>
          </a:p>
        </p:txBody>
      </p:sp>
    </p:spTree>
    <p:extLst>
      <p:ext uri="{BB962C8B-B14F-4D97-AF65-F5344CB8AC3E}">
        <p14:creationId xmlns:p14="http://schemas.microsoft.com/office/powerpoint/2010/main" val="554609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4F7692-E01D-4E26-89DF-2519D6AB7D71}"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B60D0-EA34-4C5E-99D0-06E56C34E887}"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8019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6A4F7692-E01D-4E26-89DF-2519D6AB7D71}" type="datetimeFigureOut">
              <a:rPr lang="en-IN" smtClean="0"/>
              <a:t>17-11-2025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D14B60D0-EA34-4C5E-99D0-06E56C34E887}"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90125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F7692-E01D-4E26-89DF-2519D6AB7D71}"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B60D0-EA34-4C5E-99D0-06E56C34E887}"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3233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F7692-E01D-4E26-89DF-2519D6AB7D71}"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B60D0-EA34-4C5E-99D0-06E56C34E887}"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26248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A4F7692-E01D-4E26-89DF-2519D6AB7D71}" type="datetimeFigureOut">
              <a:rPr lang="en-IN" smtClean="0"/>
              <a:t>17-11-2025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14B60D0-EA34-4C5E-99D0-06E56C34E887}"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24948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9668-FF09-9B33-8DF8-4CC8C1163A1D}"/>
              </a:ext>
            </a:extLst>
          </p:cNvPr>
          <p:cNvSpPr>
            <a:spLocks noGrp="1"/>
          </p:cNvSpPr>
          <p:nvPr>
            <p:ph type="ctrTitle"/>
          </p:nvPr>
        </p:nvSpPr>
        <p:spPr>
          <a:xfrm>
            <a:off x="2417779" y="802299"/>
            <a:ext cx="8637073" cy="1540852"/>
          </a:xfrm>
        </p:spPr>
        <p:txBody>
          <a:bodyPr/>
          <a:lstStyle/>
          <a:p>
            <a:r>
              <a:rPr lang="en-US" dirty="0"/>
              <a:t>Indic photo-</a:t>
            </a:r>
            <a:r>
              <a:rPr lang="en-US" dirty="0" err="1"/>
              <a:t>ocr</a:t>
            </a:r>
            <a:r>
              <a:rPr lang="en-US" dirty="0"/>
              <a:t>  </a:t>
            </a:r>
            <a:endParaRPr lang="en-IN" dirty="0"/>
          </a:p>
        </p:txBody>
      </p:sp>
      <p:sp>
        <p:nvSpPr>
          <p:cNvPr id="3" name="Subtitle 2">
            <a:extLst>
              <a:ext uri="{FF2B5EF4-FFF2-40B4-BE49-F238E27FC236}">
                <a16:creationId xmlns:a16="http://schemas.microsoft.com/office/drawing/2014/main" id="{B34ADDC6-40E3-3084-65F3-9669578AA562}"/>
              </a:ext>
            </a:extLst>
          </p:cNvPr>
          <p:cNvSpPr>
            <a:spLocks noGrp="1"/>
          </p:cNvSpPr>
          <p:nvPr>
            <p:ph type="subTitle" idx="1"/>
          </p:nvPr>
        </p:nvSpPr>
        <p:spPr>
          <a:xfrm>
            <a:off x="2417780" y="2906486"/>
            <a:ext cx="8637072" cy="1602339"/>
          </a:xfrm>
        </p:spPr>
        <p:txBody>
          <a:bodyPr>
            <a:noAutofit/>
          </a:bodyPr>
          <a:lstStyle/>
          <a:p>
            <a:r>
              <a:rPr lang="en-US" sz="3200" dirty="0"/>
              <a:t>Group members – </a:t>
            </a:r>
          </a:p>
          <a:p>
            <a:pPr marL="342900" indent="-342900">
              <a:buAutoNum type="arabicPeriod"/>
            </a:pPr>
            <a:r>
              <a:rPr lang="en-US" sz="3200" dirty="0"/>
              <a:t>Chaitanya singh (b24cs1088)</a:t>
            </a:r>
          </a:p>
          <a:p>
            <a:pPr marL="342900" indent="-342900">
              <a:buAutoNum type="arabicPeriod"/>
            </a:pPr>
            <a:r>
              <a:rPr lang="en-US" sz="3200" dirty="0"/>
              <a:t>Pawan kumar (b24bb1024)</a:t>
            </a:r>
          </a:p>
          <a:p>
            <a:pPr marL="342900" indent="-342900">
              <a:buAutoNum type="arabicPeriod"/>
            </a:pPr>
            <a:r>
              <a:rPr lang="en-US" sz="3200" dirty="0"/>
              <a:t>Varnit sharma (b24ee1085)</a:t>
            </a:r>
            <a:endParaRPr lang="en-IN" sz="3200" dirty="0"/>
          </a:p>
        </p:txBody>
      </p:sp>
    </p:spTree>
    <p:extLst>
      <p:ext uri="{BB962C8B-B14F-4D97-AF65-F5344CB8AC3E}">
        <p14:creationId xmlns:p14="http://schemas.microsoft.com/office/powerpoint/2010/main" val="836966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3BE4FA-A608-C27F-392D-A5C1F9189DB0}"/>
              </a:ext>
            </a:extLst>
          </p:cNvPr>
          <p:cNvSpPr txBox="1"/>
          <p:nvPr/>
        </p:nvSpPr>
        <p:spPr>
          <a:xfrm>
            <a:off x="873577" y="702127"/>
            <a:ext cx="10589080" cy="4524315"/>
          </a:xfrm>
          <a:prstGeom prst="rect">
            <a:avLst/>
          </a:prstGeom>
          <a:noFill/>
        </p:spPr>
        <p:txBody>
          <a:bodyPr wrap="square" rtlCol="0">
            <a:spAutoFit/>
          </a:bodyPr>
          <a:lstStyle/>
          <a:p>
            <a:pPr fontAlgn="t"/>
            <a:r>
              <a:rPr lang="en-IN" b="1" dirty="0"/>
              <a:t>DELIVERABLES</a:t>
            </a:r>
            <a:r>
              <a:rPr lang="en-IN" dirty="0"/>
              <a:t> – </a:t>
            </a:r>
          </a:p>
          <a:p>
            <a:pPr fontAlgn="t"/>
            <a:endParaRPr lang="en-IN" dirty="0"/>
          </a:p>
          <a:p>
            <a:pPr marL="285750" indent="-285750" fontAlgn="t">
              <a:buFont typeface="Arial" panose="020B0604020202020204" pitchFamily="34" charset="0"/>
              <a:buChar char="•"/>
            </a:pPr>
            <a:r>
              <a:rPr lang="en-IN" dirty="0"/>
              <a:t> </a:t>
            </a:r>
            <a:r>
              <a:rPr lang="en-IN" b="1" dirty="0"/>
              <a:t>Aim</a:t>
            </a:r>
            <a:r>
              <a:rPr lang="en-IN" dirty="0"/>
              <a:t> : Our aim on this project was to test the IndicPhotoOCR system using our own dataset.</a:t>
            </a:r>
          </a:p>
          <a:p>
            <a:pPr marL="285750" indent="-285750" fontAlgn="t">
              <a:buFont typeface="Arial" panose="020B0604020202020204" pitchFamily="34" charset="0"/>
              <a:buChar char="•"/>
            </a:pPr>
            <a:endParaRPr lang="en-IN" dirty="0"/>
          </a:p>
          <a:p>
            <a:pPr marL="285750" indent="-285750" fontAlgn="t">
              <a:buFont typeface="Arial" panose="020B0604020202020204" pitchFamily="34" charset="0"/>
              <a:buChar char="•"/>
            </a:pPr>
            <a:r>
              <a:rPr lang="en-IN" b="1" dirty="0"/>
              <a:t>Data collection :  </a:t>
            </a:r>
            <a:r>
              <a:rPr lang="en-IN" dirty="0"/>
              <a:t>We collected diverse scene images containing natural text in different Indian script.</a:t>
            </a:r>
          </a:p>
          <a:p>
            <a:pPr marL="285750" indent="-285750" fontAlgn="t">
              <a:buFont typeface="Arial" panose="020B0604020202020204" pitchFamily="34" charset="0"/>
              <a:buChar char="•"/>
            </a:pPr>
            <a:endParaRPr lang="en-IN" dirty="0"/>
          </a:p>
          <a:p>
            <a:pPr fontAlgn="t"/>
            <a:r>
              <a:rPr lang="en-IN" dirty="0"/>
              <a:t>                                  We collected 61 images containing “Hindi” and “English” scripts and manually annotated   </a:t>
            </a:r>
          </a:p>
          <a:p>
            <a:pPr fontAlgn="t"/>
            <a:r>
              <a:rPr lang="en-IN" dirty="0"/>
              <a:t>                                  them by typing the visible text .</a:t>
            </a:r>
          </a:p>
          <a:p>
            <a:pPr fontAlgn="t"/>
            <a:r>
              <a:rPr lang="en-IN" dirty="0"/>
              <a:t> </a:t>
            </a:r>
          </a:p>
          <a:p>
            <a:pPr marL="285750" indent="-285750" fontAlgn="t">
              <a:buFont typeface="Arial" panose="020B0604020202020204" pitchFamily="34" charset="0"/>
              <a:buChar char="•"/>
            </a:pPr>
            <a:r>
              <a:rPr lang="en-IN" dirty="0"/>
              <a:t>Then the output of the model was compared to our annotation in order to calculate metrics like WRR(Word Recognition Rate ) and PRF(Precision Recall and F1 score).</a:t>
            </a:r>
          </a:p>
          <a:p>
            <a:pPr marL="285750" indent="-285750" fontAlgn="t">
              <a:buFont typeface="Arial" panose="020B0604020202020204" pitchFamily="34" charset="0"/>
              <a:buChar char="•"/>
            </a:pPr>
            <a:endParaRPr lang="en-IN" dirty="0"/>
          </a:p>
          <a:p>
            <a:pPr marL="285750" indent="-285750" fontAlgn="t">
              <a:buFont typeface="Arial" panose="020B0604020202020204" pitchFamily="34" charset="0"/>
              <a:buChar char="•"/>
            </a:pPr>
            <a:r>
              <a:rPr lang="en-IN" dirty="0"/>
              <a:t>In certain cases words recognised by the model was correct but giving uppercase and lowercase issues ,so </a:t>
            </a:r>
            <a:r>
              <a:rPr lang="en-US" dirty="0"/>
              <a:t>for evaluation, we used two approaches: one in which case differences were ignored and uppercase/lowercase variations were treated as equivalent, and another in which case sensitivity was enforced.</a:t>
            </a:r>
            <a:endParaRPr lang="en-IN" dirty="0"/>
          </a:p>
          <a:p>
            <a:endParaRPr lang="en-IN" dirty="0"/>
          </a:p>
        </p:txBody>
      </p:sp>
    </p:spTree>
    <p:extLst>
      <p:ext uri="{BB962C8B-B14F-4D97-AF65-F5344CB8AC3E}">
        <p14:creationId xmlns:p14="http://schemas.microsoft.com/office/powerpoint/2010/main" val="3685880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80660-243C-BDDB-4698-BEBA55642667}"/>
            </a:ext>
          </a:extLst>
        </p:cNvPr>
        <p:cNvGrpSpPr/>
        <p:nvPr/>
      </p:nvGrpSpPr>
      <p:grpSpPr>
        <a:xfrm>
          <a:off x="0" y="0"/>
          <a:ext cx="0" cy="0"/>
          <a:chOff x="0" y="0"/>
          <a:chExt cx="0" cy="0"/>
        </a:xfrm>
      </p:grpSpPr>
      <p:pic>
        <p:nvPicPr>
          <p:cNvPr id="2056" name="Picture 8">
            <a:extLst>
              <a:ext uri="{FF2B5EF4-FFF2-40B4-BE49-F238E27FC236}">
                <a16:creationId xmlns:a16="http://schemas.microsoft.com/office/drawing/2014/main" id="{DCD6CF64-97AE-74FD-45A0-6096F09E9F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6936" y="1432692"/>
            <a:ext cx="5094513" cy="238560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4303290E-031D-A79A-3908-433DEF4D21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043" y="1438853"/>
            <a:ext cx="5301341" cy="23856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B629A3B-B2A7-9DD5-3C9A-CD2FDC86933E}"/>
              </a:ext>
            </a:extLst>
          </p:cNvPr>
          <p:cNvSpPr txBox="1"/>
          <p:nvPr/>
        </p:nvSpPr>
        <p:spPr>
          <a:xfrm>
            <a:off x="234043" y="522515"/>
            <a:ext cx="9855489" cy="461665"/>
          </a:xfrm>
          <a:prstGeom prst="rect">
            <a:avLst/>
          </a:prstGeom>
          <a:noFill/>
        </p:spPr>
        <p:txBody>
          <a:bodyPr wrap="square" rtlCol="0">
            <a:spAutoFit/>
          </a:bodyPr>
          <a:lstStyle/>
          <a:p>
            <a:r>
              <a:rPr lang="en-US" sz="2400" b="1" i="1" u="sng" dirty="0"/>
              <a:t>Comparison between model output and dataset image </a:t>
            </a:r>
            <a:r>
              <a:rPr lang="en-US" sz="2400" i="1" dirty="0"/>
              <a:t>: </a:t>
            </a:r>
            <a:endParaRPr lang="en-IN" sz="2400" i="1" dirty="0"/>
          </a:p>
        </p:txBody>
      </p:sp>
      <p:sp>
        <p:nvSpPr>
          <p:cNvPr id="6" name="TextBox 5">
            <a:extLst>
              <a:ext uri="{FF2B5EF4-FFF2-40B4-BE49-F238E27FC236}">
                <a16:creationId xmlns:a16="http://schemas.microsoft.com/office/drawing/2014/main" id="{C021E074-4228-78A6-2EA0-86F9F04516A3}"/>
              </a:ext>
            </a:extLst>
          </p:cNvPr>
          <p:cNvSpPr txBox="1"/>
          <p:nvPr/>
        </p:nvSpPr>
        <p:spPr>
          <a:xfrm>
            <a:off x="234043" y="1069521"/>
            <a:ext cx="3776180" cy="369332"/>
          </a:xfrm>
          <a:prstGeom prst="rect">
            <a:avLst/>
          </a:prstGeom>
          <a:noFill/>
        </p:spPr>
        <p:txBody>
          <a:bodyPr wrap="square" rtlCol="0">
            <a:spAutoFit/>
          </a:bodyPr>
          <a:lstStyle/>
          <a:p>
            <a:r>
              <a:rPr lang="en-US" dirty="0"/>
              <a:t>Dataset Image : </a:t>
            </a:r>
            <a:endParaRPr lang="en-IN" dirty="0"/>
          </a:p>
        </p:txBody>
      </p:sp>
      <p:sp>
        <p:nvSpPr>
          <p:cNvPr id="7" name="TextBox 6">
            <a:extLst>
              <a:ext uri="{FF2B5EF4-FFF2-40B4-BE49-F238E27FC236}">
                <a16:creationId xmlns:a16="http://schemas.microsoft.com/office/drawing/2014/main" id="{FC8F34EB-ADE8-3347-777F-69F45199C6EA}"/>
              </a:ext>
            </a:extLst>
          </p:cNvPr>
          <p:cNvSpPr txBox="1"/>
          <p:nvPr/>
        </p:nvSpPr>
        <p:spPr>
          <a:xfrm>
            <a:off x="6506936" y="1063360"/>
            <a:ext cx="4759778" cy="369332"/>
          </a:xfrm>
          <a:prstGeom prst="rect">
            <a:avLst/>
          </a:prstGeom>
          <a:noFill/>
        </p:spPr>
        <p:txBody>
          <a:bodyPr wrap="square" rtlCol="0">
            <a:spAutoFit/>
          </a:bodyPr>
          <a:lstStyle/>
          <a:p>
            <a:r>
              <a:rPr lang="en-US" dirty="0"/>
              <a:t>Model Output : </a:t>
            </a:r>
            <a:endParaRPr lang="en-IN" dirty="0"/>
          </a:p>
        </p:txBody>
      </p:sp>
      <p:sp>
        <p:nvSpPr>
          <p:cNvPr id="9" name="TextBox 8">
            <a:extLst>
              <a:ext uri="{FF2B5EF4-FFF2-40B4-BE49-F238E27FC236}">
                <a16:creationId xmlns:a16="http://schemas.microsoft.com/office/drawing/2014/main" id="{45094DB0-4418-817A-D708-37A706D725D3}"/>
              </a:ext>
            </a:extLst>
          </p:cNvPr>
          <p:cNvSpPr txBox="1"/>
          <p:nvPr/>
        </p:nvSpPr>
        <p:spPr>
          <a:xfrm>
            <a:off x="234042" y="3918857"/>
            <a:ext cx="11957957" cy="1754326"/>
          </a:xfrm>
          <a:prstGeom prst="rect">
            <a:avLst/>
          </a:prstGeom>
          <a:noFill/>
        </p:spPr>
        <p:txBody>
          <a:bodyPr wrap="square" rtlCol="0">
            <a:spAutoFit/>
          </a:bodyPr>
          <a:lstStyle/>
          <a:p>
            <a:pPr marL="285750" indent="-285750">
              <a:buFont typeface="Arial" panose="020B0604020202020204" pitchFamily="34" charset="0"/>
              <a:buChar char="•"/>
            </a:pPr>
            <a:r>
              <a:rPr lang="en-US" dirty="0"/>
              <a:t>WRR for Hindi – 0/1  = 0</a:t>
            </a:r>
          </a:p>
          <a:p>
            <a:pPr marL="285750" indent="-285750">
              <a:buFont typeface="Arial" panose="020B0604020202020204" pitchFamily="34" charset="0"/>
              <a:buChar char="•"/>
            </a:pPr>
            <a:r>
              <a:rPr lang="en-US" dirty="0"/>
              <a:t>WRR for English  - 1/3  = 0.33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Misclassification :  Words that have been wrongly annotated by the model or not being annotated but annotated by us .</a:t>
            </a:r>
          </a:p>
          <a:p>
            <a:pPr marL="285750" indent="-285750">
              <a:buFont typeface="Arial" panose="020B0604020202020204" pitchFamily="34" charset="0"/>
              <a:buChar char="•"/>
            </a:pPr>
            <a:r>
              <a:rPr lang="en-US" dirty="0"/>
              <a:t>In the given image ,  3 words has been misclassified by the model .</a:t>
            </a:r>
          </a:p>
          <a:p>
            <a:endParaRPr lang="en-IN" dirty="0"/>
          </a:p>
        </p:txBody>
      </p:sp>
    </p:spTree>
    <p:extLst>
      <p:ext uri="{BB962C8B-B14F-4D97-AF65-F5344CB8AC3E}">
        <p14:creationId xmlns:p14="http://schemas.microsoft.com/office/powerpoint/2010/main" val="1767960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lt PATH_TO_HINDI_WRR_PLOT">
            <a:extLst>
              <a:ext uri="{FF2B5EF4-FFF2-40B4-BE49-F238E27FC236}">
                <a16:creationId xmlns:a16="http://schemas.microsoft.com/office/drawing/2014/main" id="{6E582DDD-BA31-7FCF-B0C2-ABEA978407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339" y="1437306"/>
            <a:ext cx="5424032" cy="384653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alt PATH_TO_ENGLISH_WRR_PLOT">
            <a:extLst>
              <a:ext uri="{FF2B5EF4-FFF2-40B4-BE49-F238E27FC236}">
                <a16:creationId xmlns:a16="http://schemas.microsoft.com/office/drawing/2014/main" id="{984699D7-300E-88E9-806F-3FC0969E3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37306"/>
            <a:ext cx="5693229" cy="38465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3B86EED-B3C7-F948-204B-B8C1DBAEBBAC}"/>
              </a:ext>
            </a:extLst>
          </p:cNvPr>
          <p:cNvSpPr txBox="1"/>
          <p:nvPr/>
        </p:nvSpPr>
        <p:spPr>
          <a:xfrm>
            <a:off x="160339" y="372249"/>
            <a:ext cx="6033588" cy="369332"/>
          </a:xfrm>
          <a:prstGeom prst="rect">
            <a:avLst/>
          </a:prstGeom>
          <a:noFill/>
        </p:spPr>
        <p:txBody>
          <a:bodyPr wrap="square" rtlCol="0">
            <a:spAutoFit/>
          </a:bodyPr>
          <a:lstStyle/>
          <a:p>
            <a:r>
              <a:rPr lang="en-US" b="1" i="1" u="sng" dirty="0"/>
              <a:t>PRF for Hindi And English : </a:t>
            </a:r>
            <a:endParaRPr lang="en-IN" b="1" i="1" u="sng" dirty="0"/>
          </a:p>
        </p:txBody>
      </p:sp>
      <p:sp>
        <p:nvSpPr>
          <p:cNvPr id="6" name="TextBox 5">
            <a:extLst>
              <a:ext uri="{FF2B5EF4-FFF2-40B4-BE49-F238E27FC236}">
                <a16:creationId xmlns:a16="http://schemas.microsoft.com/office/drawing/2014/main" id="{D86B4020-A57D-6CB5-8673-9A4F97ABE1E4}"/>
              </a:ext>
            </a:extLst>
          </p:cNvPr>
          <p:cNvSpPr txBox="1"/>
          <p:nvPr/>
        </p:nvSpPr>
        <p:spPr>
          <a:xfrm>
            <a:off x="160339" y="973489"/>
            <a:ext cx="5173149" cy="369332"/>
          </a:xfrm>
          <a:prstGeom prst="rect">
            <a:avLst/>
          </a:prstGeom>
          <a:noFill/>
        </p:spPr>
        <p:txBody>
          <a:bodyPr wrap="square" rtlCol="0">
            <a:spAutoFit/>
          </a:bodyPr>
          <a:lstStyle/>
          <a:p>
            <a:r>
              <a:rPr lang="en-US" dirty="0"/>
              <a:t>Hindi</a:t>
            </a:r>
            <a:endParaRPr lang="en-IN" dirty="0"/>
          </a:p>
        </p:txBody>
      </p:sp>
      <p:sp>
        <p:nvSpPr>
          <p:cNvPr id="7" name="TextBox 6">
            <a:extLst>
              <a:ext uri="{FF2B5EF4-FFF2-40B4-BE49-F238E27FC236}">
                <a16:creationId xmlns:a16="http://schemas.microsoft.com/office/drawing/2014/main" id="{7AE18F70-CD99-CDE5-1899-8BDD1CF77F4D}"/>
              </a:ext>
            </a:extLst>
          </p:cNvPr>
          <p:cNvSpPr txBox="1"/>
          <p:nvPr/>
        </p:nvSpPr>
        <p:spPr>
          <a:xfrm>
            <a:off x="6096000" y="973489"/>
            <a:ext cx="2046819" cy="369332"/>
          </a:xfrm>
          <a:prstGeom prst="rect">
            <a:avLst/>
          </a:prstGeom>
          <a:noFill/>
        </p:spPr>
        <p:txBody>
          <a:bodyPr wrap="square" rtlCol="0">
            <a:spAutoFit/>
          </a:bodyPr>
          <a:lstStyle/>
          <a:p>
            <a:r>
              <a:rPr lang="en-US" dirty="0"/>
              <a:t>English</a:t>
            </a:r>
            <a:endParaRPr lang="en-IN" dirty="0"/>
          </a:p>
        </p:txBody>
      </p:sp>
      <p:sp>
        <p:nvSpPr>
          <p:cNvPr id="9" name="TextBox 8">
            <a:extLst>
              <a:ext uri="{FF2B5EF4-FFF2-40B4-BE49-F238E27FC236}">
                <a16:creationId xmlns:a16="http://schemas.microsoft.com/office/drawing/2014/main" id="{0C114ADA-8513-D0F9-8FE0-3B63373E25FC}"/>
              </a:ext>
            </a:extLst>
          </p:cNvPr>
          <p:cNvSpPr txBox="1"/>
          <p:nvPr/>
        </p:nvSpPr>
        <p:spPr>
          <a:xfrm>
            <a:off x="160340" y="5378321"/>
            <a:ext cx="10294242" cy="646331"/>
          </a:xfrm>
          <a:prstGeom prst="rect">
            <a:avLst/>
          </a:prstGeom>
          <a:noFill/>
        </p:spPr>
        <p:txBody>
          <a:bodyPr wrap="square" rtlCol="0">
            <a:spAutoFit/>
          </a:bodyPr>
          <a:lstStyle/>
          <a:p>
            <a:r>
              <a:rPr lang="en-US" dirty="0"/>
              <a:t>• Hindi WRR: 28.91%                                                              • English WRR:  4.01% (for case sensitive) </a:t>
            </a:r>
          </a:p>
          <a:p>
            <a:r>
              <a:rPr lang="en-US" dirty="0"/>
              <a:t>                                                                                                                 :   43.27% (for case insensitive)</a:t>
            </a:r>
            <a:endParaRPr lang="en-IN" dirty="0"/>
          </a:p>
        </p:txBody>
      </p:sp>
    </p:spTree>
    <p:extLst>
      <p:ext uri="{BB962C8B-B14F-4D97-AF65-F5344CB8AC3E}">
        <p14:creationId xmlns:p14="http://schemas.microsoft.com/office/powerpoint/2010/main" val="4084391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FBA14-3ADC-F0C6-ED22-04B9E814B1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8C0CDC-C35C-9C41-3863-7DC58EB29CD2}"/>
              </a:ext>
            </a:extLst>
          </p:cNvPr>
          <p:cNvSpPr txBox="1"/>
          <p:nvPr/>
        </p:nvSpPr>
        <p:spPr>
          <a:xfrm>
            <a:off x="277587" y="424543"/>
            <a:ext cx="7640930" cy="707886"/>
          </a:xfrm>
          <a:prstGeom prst="rect">
            <a:avLst/>
          </a:prstGeom>
          <a:noFill/>
        </p:spPr>
        <p:txBody>
          <a:bodyPr wrap="square" rtlCol="0">
            <a:spAutoFit/>
          </a:bodyPr>
          <a:lstStyle/>
          <a:p>
            <a:r>
              <a:rPr lang="en-US" sz="4000" b="1" i="1" u="sng" dirty="0"/>
              <a:t>Acknowledgement </a:t>
            </a:r>
            <a:endParaRPr lang="en-IN" sz="4000" b="1" i="1" u="sng" dirty="0"/>
          </a:p>
        </p:txBody>
      </p:sp>
      <p:sp>
        <p:nvSpPr>
          <p:cNvPr id="3" name="TextBox 2">
            <a:extLst>
              <a:ext uri="{FF2B5EF4-FFF2-40B4-BE49-F238E27FC236}">
                <a16:creationId xmlns:a16="http://schemas.microsoft.com/office/drawing/2014/main" id="{92CD89FF-47A6-03E7-1304-A89F09EF8DAC}"/>
              </a:ext>
            </a:extLst>
          </p:cNvPr>
          <p:cNvSpPr txBox="1"/>
          <p:nvPr/>
        </p:nvSpPr>
        <p:spPr>
          <a:xfrm>
            <a:off x="4212771" y="2212521"/>
            <a:ext cx="184731" cy="369332"/>
          </a:xfrm>
          <a:prstGeom prst="rect">
            <a:avLst/>
          </a:prstGeom>
          <a:noFill/>
        </p:spPr>
        <p:txBody>
          <a:bodyPr wrap="square" rtlCol="0">
            <a:spAutoFit/>
          </a:bodyPr>
          <a:lstStyle/>
          <a:p>
            <a:endParaRPr lang="en-IN"/>
          </a:p>
        </p:txBody>
      </p:sp>
      <p:sp>
        <p:nvSpPr>
          <p:cNvPr id="4" name="TextBox 3">
            <a:extLst>
              <a:ext uri="{FF2B5EF4-FFF2-40B4-BE49-F238E27FC236}">
                <a16:creationId xmlns:a16="http://schemas.microsoft.com/office/drawing/2014/main" id="{A5D4D506-C93A-4C38-5B1A-B921EBD51B81}"/>
              </a:ext>
            </a:extLst>
          </p:cNvPr>
          <p:cNvSpPr txBox="1"/>
          <p:nvPr/>
        </p:nvSpPr>
        <p:spPr>
          <a:xfrm>
            <a:off x="277587" y="1232807"/>
            <a:ext cx="11332027" cy="4893647"/>
          </a:xfrm>
          <a:prstGeom prst="rect">
            <a:avLst/>
          </a:prstGeom>
          <a:noFill/>
        </p:spPr>
        <p:txBody>
          <a:bodyPr wrap="square" rtlCol="0">
            <a:spAutoFit/>
          </a:bodyPr>
          <a:lstStyle/>
          <a:p>
            <a:r>
              <a:rPr lang="en-US" sz="2400" dirty="0"/>
              <a:t>We would like to express our sincere gratitude to </a:t>
            </a:r>
            <a:r>
              <a:rPr lang="en-US" sz="2400" b="1" dirty="0"/>
              <a:t>Prof. Anand Mishra </a:t>
            </a:r>
            <a:r>
              <a:rPr lang="en-US" sz="2400" dirty="0"/>
              <a:t>for his valuable guidance, continuous support, and encouragement throughout the development of this </a:t>
            </a:r>
            <a:r>
              <a:rPr lang="en-US" sz="2400" b="1" dirty="0"/>
              <a:t>INDIC-OCR</a:t>
            </a:r>
            <a:r>
              <a:rPr lang="en-US" sz="2400" dirty="0"/>
              <a:t> project.  </a:t>
            </a:r>
          </a:p>
          <a:p>
            <a:endParaRPr lang="en-US" sz="2400" dirty="0"/>
          </a:p>
          <a:p>
            <a:r>
              <a:rPr lang="en-US" sz="2400" dirty="0"/>
              <a:t>His insights and expertise have been instrumental in shaping the direction and quality of our Work. We are also deeply thankful to our mentor, </a:t>
            </a:r>
            <a:r>
              <a:rPr lang="en-US" sz="2400" b="1" dirty="0"/>
              <a:t>Mr. Anik De</a:t>
            </a:r>
            <a:r>
              <a:rPr lang="en-US" sz="2400" dirty="0"/>
              <a:t>, for his constant assistance, constructive feedback, and mentorship at every stage of the project. His patience and detailed explanations helped us understand complex concepts and complete the project successfully.</a:t>
            </a:r>
          </a:p>
          <a:p>
            <a:endParaRPr lang="en-US" sz="2400" dirty="0"/>
          </a:p>
          <a:p>
            <a:r>
              <a:rPr lang="en-US" sz="2400" dirty="0"/>
              <a:t>Finally, we would like to acknowledge the support of our peers and everyone who contributed directly or indirectly to this project. Their cooperation and motivation played an important role in bringing this work to completion.</a:t>
            </a:r>
            <a:endParaRPr lang="en-IN" sz="2400" dirty="0"/>
          </a:p>
        </p:txBody>
      </p:sp>
    </p:spTree>
    <p:extLst>
      <p:ext uri="{BB962C8B-B14F-4D97-AF65-F5344CB8AC3E}">
        <p14:creationId xmlns:p14="http://schemas.microsoft.com/office/powerpoint/2010/main" val="1321793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15A0C-5A82-5E09-AF7C-AFE47C7256C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8207C2-EAFB-C4D1-E979-DB051D512CA3}"/>
              </a:ext>
            </a:extLst>
          </p:cNvPr>
          <p:cNvSpPr txBox="1"/>
          <p:nvPr/>
        </p:nvSpPr>
        <p:spPr>
          <a:xfrm rot="10800000" flipV="1">
            <a:off x="4212771" y="2672306"/>
            <a:ext cx="4147458" cy="707886"/>
          </a:xfrm>
          <a:prstGeom prst="rect">
            <a:avLst/>
          </a:prstGeom>
          <a:noFill/>
        </p:spPr>
        <p:txBody>
          <a:bodyPr wrap="square" rtlCol="0">
            <a:spAutoFit/>
          </a:bodyPr>
          <a:lstStyle/>
          <a:p>
            <a:r>
              <a:rPr lang="en-US" sz="4000" b="1" i="1" dirty="0"/>
              <a:t>Thank You</a:t>
            </a:r>
          </a:p>
        </p:txBody>
      </p:sp>
      <p:sp>
        <p:nvSpPr>
          <p:cNvPr id="3" name="TextBox 2">
            <a:extLst>
              <a:ext uri="{FF2B5EF4-FFF2-40B4-BE49-F238E27FC236}">
                <a16:creationId xmlns:a16="http://schemas.microsoft.com/office/drawing/2014/main" id="{043BBFE6-5048-751E-C6F8-0E332F285459}"/>
              </a:ext>
            </a:extLst>
          </p:cNvPr>
          <p:cNvSpPr txBox="1"/>
          <p:nvPr/>
        </p:nvSpPr>
        <p:spPr>
          <a:xfrm>
            <a:off x="4212771" y="2212521"/>
            <a:ext cx="184731" cy="369332"/>
          </a:xfrm>
          <a:prstGeom prst="rect">
            <a:avLst/>
          </a:prstGeom>
          <a:noFill/>
        </p:spPr>
        <p:txBody>
          <a:bodyPr wrap="square" rtlCol="0">
            <a:spAutoFit/>
          </a:bodyPr>
          <a:lstStyle/>
          <a:p>
            <a:endParaRPr lang="en-IN"/>
          </a:p>
        </p:txBody>
      </p:sp>
    </p:spTree>
    <p:extLst>
      <p:ext uri="{BB962C8B-B14F-4D97-AF65-F5344CB8AC3E}">
        <p14:creationId xmlns:p14="http://schemas.microsoft.com/office/powerpoint/2010/main" val="169288736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89</TotalTime>
  <Words>399</Words>
  <Application>Microsoft Office PowerPoint</Application>
  <PresentationFormat>Widescreen</PresentationFormat>
  <Paragraphs>37</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Gill Sans MT</vt:lpstr>
      <vt:lpstr>Gallery</vt:lpstr>
      <vt:lpstr>Indic photo-ocr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Varnit Sharma</dc:creator>
  <cp:lastModifiedBy>Varnit Sharma</cp:lastModifiedBy>
  <cp:revision>1</cp:revision>
  <dcterms:created xsi:type="dcterms:W3CDTF">2025-11-17T13:06:34Z</dcterms:created>
  <dcterms:modified xsi:type="dcterms:W3CDTF">2025-11-17T14:36:16Z</dcterms:modified>
</cp:coreProperties>
</file>